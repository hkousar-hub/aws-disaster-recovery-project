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8D696-616F-43D3-B1B8-A0D611946B63}" v="102" dt="2026-02-06T16:14:41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oogle.com/search?q=Amazon+Simple+Notification+Service&amp;oq=&amp;gs_lcrp=EgZjaHJvbWUqDwgBECMYJxjqAhiABBiKBTIPCAAQIxgnGOoCGIAEGIoFMg8IARAjGCcY6gIYgAQYigUyDwgCECMYJxjqAhiABBiKBTIPCAMQIxgnGOoCGIAEGIoFMg8IBBAjGCcY6gIYgAQYigUyDwgFECMYJxjqAhiABBiKBTIJCAYQIxgnGOoCMg8IBxAjGCcY6gIYgAQYigXSAQwyMDYxMDAzMWowajeoAgiwAgHxBfEK6gOu6lDv&amp;sourceid=chrome&amp;ie=UTF-8&amp;ved=2ahUKEwj46-j_hMWSAxXFSGwGHU_9OL4QgK4QegYIAQgAEA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95B3-ABE5-9B6E-E169-19235E0DD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733" y="1380378"/>
            <a:ext cx="9840526" cy="1323493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🔐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Encrypted EC2 Backup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Automation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 &amp; Disaster Recovery System (AWS)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0144C-F0F4-75AD-FB2D-91CBEF544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2281084"/>
            <a:ext cx="8976055" cy="3196537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📋 Services Used (Free Tier)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EC2-</a:t>
            </a:r>
            <a:r>
              <a:rPr lang="en-IN" b="1" dirty="0"/>
              <a:t>Amazon Elastic Compute Cloud</a:t>
            </a:r>
            <a:endParaRPr lang="en-US" b="1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EBS-</a:t>
            </a:r>
            <a:r>
              <a:rPr lang="en-IN" b="1" dirty="0"/>
              <a:t>Amazon Elastic Block Store</a:t>
            </a:r>
            <a:endParaRPr lang="en-US" b="1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LAMBDA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EVENTBRIDGE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IAM-</a:t>
            </a:r>
            <a:r>
              <a:rPr lang="en-IN" b="1" dirty="0"/>
              <a:t>Identity and Access Management</a:t>
            </a:r>
            <a:endParaRPr lang="en-US" b="1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KMS-</a:t>
            </a:r>
            <a:r>
              <a:rPr lang="en-IN" b="1" dirty="0"/>
              <a:t>Key Management Service</a:t>
            </a: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(FREE FOR BASIC USE)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CLOUDWATCH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SNS-</a:t>
            </a:r>
            <a:r>
              <a:rPr lang="en-IN" b="1" dirty="0"/>
              <a:t>Amazon Simple Notification Service</a:t>
            </a:r>
            <a:endParaRPr lang="en-US" b="1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6FBF9-3FFE-75BD-938C-F41B68747DBB}"/>
              </a:ext>
            </a:extLst>
          </p:cNvPr>
          <p:cNvSpPr txBox="1"/>
          <p:nvPr/>
        </p:nvSpPr>
        <p:spPr>
          <a:xfrm>
            <a:off x="8534280" y="5816377"/>
            <a:ext cx="3420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  Heena Kouser</a:t>
            </a:r>
          </a:p>
          <a:p>
            <a:r>
              <a:rPr lang="en-IN" dirty="0"/>
              <a:t>Batch: CLOUD DEVOPS</a:t>
            </a:r>
          </a:p>
        </p:txBody>
      </p:sp>
    </p:spTree>
    <p:extLst>
      <p:ext uri="{BB962C8B-B14F-4D97-AF65-F5344CB8AC3E}">
        <p14:creationId xmlns:p14="http://schemas.microsoft.com/office/powerpoint/2010/main" val="325782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A5C8-1F03-B6EC-DB9C-8F678682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4B2E-6778-759E-9D35-AFC16387A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837" y="1015883"/>
            <a:ext cx="7000876" cy="157843"/>
          </a:xfrm>
        </p:spPr>
        <p:txBody>
          <a:bodyPr>
            <a:normAutofit fontScale="90000"/>
          </a:bodyPr>
          <a:lstStyle/>
          <a:p>
            <a:r>
              <a:rPr lang="en-IN" dirty="0"/>
              <a:t>📘</a:t>
            </a:r>
            <a:r>
              <a:rPr lang="en-IN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Project Description: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4C1A5-AD9E-C5A1-0F37-3BF7DE6E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845" y="1303212"/>
            <a:ext cx="8791575" cy="1655762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Built an automated encrypted backup and disaster recovery system using AWS Lambda, EBS, KMS, and Event-Bridge. Implemented daily encrypted snapshots, retention policy cleanup, least-privilege IAM roles, and recovery testing to ensure secure data protection and compliance-ready architecture SECURELY.</a:t>
            </a:r>
            <a:endParaRPr lang="en-IN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3A5F1-CEB9-75B2-B4D8-ED28B5DC23EA}"/>
              </a:ext>
            </a:extLst>
          </p:cNvPr>
          <p:cNvSpPr txBox="1"/>
          <p:nvPr/>
        </p:nvSpPr>
        <p:spPr>
          <a:xfrm>
            <a:off x="1910222" y="3264866"/>
            <a:ext cx="87915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🎯A system that:</a:t>
            </a:r>
          </a:p>
          <a:p>
            <a:r>
              <a:rPr lang="en-IN" sz="2000" dirty="0"/>
              <a:t>✔ Automatically backs up EC2 EBS volumes</a:t>
            </a:r>
            <a:br>
              <a:rPr lang="en-IN" sz="2000" dirty="0"/>
            </a:br>
            <a:r>
              <a:rPr lang="en-IN" sz="2000" dirty="0"/>
              <a:t>✔ Encrypts backups using customer-managed KMS keys</a:t>
            </a:r>
            <a:br>
              <a:rPr lang="en-IN" sz="2000" dirty="0"/>
            </a:br>
            <a:r>
              <a:rPr lang="en-IN" sz="2000" dirty="0"/>
              <a:t>✔ Locks snapshots against deletion (ransomware protection)</a:t>
            </a:r>
            <a:br>
              <a:rPr lang="en-IN" sz="2000" dirty="0"/>
            </a:br>
            <a:r>
              <a:rPr lang="en-IN" sz="2000" dirty="0"/>
              <a:t>✔ Runs on schedule (no manual work)</a:t>
            </a:r>
            <a:br>
              <a:rPr lang="en-IN" sz="2000" dirty="0"/>
            </a:br>
            <a:r>
              <a:rPr lang="en-IN" sz="2000" dirty="0"/>
              <a:t>✔ Monitors failures &amp; alerts admin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49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DA4E-450B-A090-C2E7-CB9FC639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0676-74F1-621D-955D-25645CC0A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226" y="1632331"/>
            <a:ext cx="9373962" cy="443593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📊 Waterfall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SDLC MODEL:</a:t>
            </a:r>
            <a:br>
              <a:rPr lang="en-IN" b="1" dirty="0"/>
            </a:br>
            <a:r>
              <a:rPr lang="en-IN" sz="2200" dirty="0"/>
              <a:t>(with automation monitoring </a:t>
            </a:r>
            <a:r>
              <a:rPr lang="en-US" sz="2200" dirty="0"/>
              <a:t>cloud operations similar to DevOps practices</a:t>
            </a:r>
            <a:r>
              <a:rPr lang="en-IN" sz="2200" dirty="0"/>
              <a:t>)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C542B-E3DE-1F37-730F-4A8BFCEC1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9651" y="1854127"/>
            <a:ext cx="6412697" cy="2842305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🧩 1. Requirement Analysis</a:t>
            </a:r>
          </a:p>
          <a:p>
            <a:r>
              <a:rPr lang="en-IN" dirty="0">
                <a:solidFill>
                  <a:schemeClr val="tx1"/>
                </a:solidFill>
              </a:rPr>
              <a:t>📐 2. System Design</a:t>
            </a:r>
          </a:p>
          <a:p>
            <a:r>
              <a:rPr lang="en-IN" dirty="0">
                <a:solidFill>
                  <a:schemeClr val="tx1"/>
                </a:solidFill>
              </a:rPr>
              <a:t>⚙ 3. Implementation</a:t>
            </a:r>
          </a:p>
          <a:p>
            <a:r>
              <a:rPr lang="en-IN" dirty="0">
                <a:solidFill>
                  <a:schemeClr val="tx1"/>
                </a:solidFill>
              </a:rPr>
              <a:t>🧪 4. Testing</a:t>
            </a:r>
          </a:p>
          <a:p>
            <a:r>
              <a:rPr lang="en-IN" dirty="0">
                <a:solidFill>
                  <a:schemeClr val="tx1"/>
                </a:solidFill>
              </a:rPr>
              <a:t>🚀 5. Deployment</a:t>
            </a:r>
          </a:p>
          <a:p>
            <a:r>
              <a:rPr lang="en-IN" dirty="0">
                <a:solidFill>
                  <a:schemeClr val="tx1"/>
                </a:solidFill>
              </a:rPr>
              <a:t>🔁 6. Maintenance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418009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7A29-A2A1-B56E-D645-12F771F7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44DC-EAE4-D7F7-6058-8682DEC26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1830" y="425947"/>
            <a:ext cx="9373962" cy="1355272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🏗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Design:</a:t>
            </a:r>
            <a:br>
              <a:rPr lang="en-IN" dirty="0"/>
            </a:b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99AA39-306C-3A09-ADD0-C3DBAF179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161592"/>
              </p:ext>
            </p:extLst>
          </p:nvPr>
        </p:nvGraphicFramePr>
        <p:xfrm>
          <a:off x="1886256" y="2086019"/>
          <a:ext cx="9621735" cy="3363939"/>
        </p:xfrm>
        <a:graphic>
          <a:graphicData uri="http://schemas.openxmlformats.org/drawingml/2006/table">
            <a:tbl>
              <a:tblPr/>
              <a:tblGrid>
                <a:gridCol w="3207245">
                  <a:extLst>
                    <a:ext uri="{9D8B030D-6E8A-4147-A177-3AD203B41FA5}">
                      <a16:colId xmlns:a16="http://schemas.microsoft.com/office/drawing/2014/main" val="481278868"/>
                    </a:ext>
                  </a:extLst>
                </a:gridCol>
                <a:gridCol w="3207245">
                  <a:extLst>
                    <a:ext uri="{9D8B030D-6E8A-4147-A177-3AD203B41FA5}">
                      <a16:colId xmlns:a16="http://schemas.microsoft.com/office/drawing/2014/main" val="1247919265"/>
                    </a:ext>
                  </a:extLst>
                </a:gridCol>
                <a:gridCol w="3207245">
                  <a:extLst>
                    <a:ext uri="{9D8B030D-6E8A-4147-A177-3AD203B41FA5}">
                      <a16:colId xmlns:a16="http://schemas.microsoft.com/office/drawing/2014/main" val="3962369137"/>
                    </a:ext>
                  </a:extLst>
                </a:gridCol>
              </a:tblGrid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AWS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9135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046846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data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444330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Lambda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Snapshot + 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71967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KMS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Encrypt backups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407738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EventBridge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697787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CloudWatch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753004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516980"/>
                  </a:ext>
                </a:extLst>
              </a:tr>
              <a:tr h="37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EC2 + EBS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Disaster restore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9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DEA479-8A47-C89D-0A65-3BB35F0BAD6B}"/>
              </a:ext>
            </a:extLst>
          </p:cNvPr>
          <p:cNvSpPr txBox="1"/>
          <p:nvPr/>
        </p:nvSpPr>
        <p:spPr>
          <a:xfrm>
            <a:off x="4845765" y="1282144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🧱</a:t>
            </a:r>
            <a:r>
              <a:rPr lang="en-I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Core Components Used:</a:t>
            </a:r>
          </a:p>
        </p:txBody>
      </p:sp>
    </p:spTree>
    <p:extLst>
      <p:ext uri="{BB962C8B-B14F-4D97-AF65-F5344CB8AC3E}">
        <p14:creationId xmlns:p14="http://schemas.microsoft.com/office/powerpoint/2010/main" val="195771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0AFF-B5D0-34C3-7C7F-2CBF9689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FA9B-698A-7454-9A51-BB906DE0E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3" y="178559"/>
            <a:ext cx="9373962" cy="1355272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🔄 Architecture Flow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IN" dirty="0"/>
            </a:b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EFFB3-D643-471E-F34B-922111321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052049"/>
            <a:ext cx="9373962" cy="532908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48665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C8EA-E310-8239-FD8B-FD58731D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0E88-51EB-FAF7-E2B4-26041B54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8810" y="149062"/>
            <a:ext cx="9373962" cy="13552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⚡Implementation: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AAAED-4B69-D44A-F212-3D9772F9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67" y="1101213"/>
            <a:ext cx="11233865" cy="51029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78851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A8FE-6EBB-D838-1D5E-3C7C5CAC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171-D49A-A35D-2935-D6BA1107F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5899" y="967152"/>
            <a:ext cx="5144368" cy="517632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🧠 Lambda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CODE: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9F637-B2D9-E600-F740-217E008DAE52}"/>
              </a:ext>
            </a:extLst>
          </p:cNvPr>
          <p:cNvSpPr/>
          <p:nvPr/>
        </p:nvSpPr>
        <p:spPr>
          <a:xfrm>
            <a:off x="766916" y="967152"/>
            <a:ext cx="10538393" cy="567945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DF098-C3B1-CC64-669C-492BE7EEB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12" y="1094293"/>
            <a:ext cx="4572000" cy="54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0071-AD47-134B-0F23-2BDB9BBF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563F-4810-9AD7-2DF9-0C225AB0B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2168" y="473527"/>
            <a:ext cx="4630993" cy="932486"/>
          </a:xfrm>
        </p:spPr>
        <p:txBody>
          <a:bodyPr>
            <a:normAutofit fontScale="90000"/>
          </a:bodyPr>
          <a:lstStyle/>
          <a:p>
            <a:r>
              <a:rPr lang="en-IN" dirty="0"/>
              <a:t>✅</a:t>
            </a:r>
            <a:r>
              <a:rPr lang="en-IN" b="1" dirty="0"/>
              <a:t>Security: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CE61B-55F4-EAC0-E3F4-179D2D9904D9}"/>
              </a:ext>
            </a:extLst>
          </p:cNvPr>
          <p:cNvSpPr txBox="1"/>
          <p:nvPr/>
        </p:nvSpPr>
        <p:spPr>
          <a:xfrm>
            <a:off x="4319113" y="656780"/>
            <a:ext cx="423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SNS: </a:t>
            </a:r>
            <a:r>
              <a:rPr lang="en-IN" dirty="0">
                <a:hlinkClick r:id="rId2"/>
              </a:rPr>
              <a:t>Amazon Simple Notification Service</a:t>
            </a:r>
            <a:r>
              <a:rPr lang="en-IN" dirty="0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E69B3-0FF1-7843-AD2B-44F31D09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697" y="1107680"/>
            <a:ext cx="9717622" cy="5437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455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9FD0-5A9B-A223-40A4-7FE9499B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2FBD-E2EC-7A02-F644-5E34D9552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764" y="1109927"/>
            <a:ext cx="6611635" cy="470943"/>
          </a:xfrm>
        </p:spPr>
        <p:txBody>
          <a:bodyPr>
            <a:normAutofit fontScale="90000"/>
          </a:bodyPr>
          <a:lstStyle/>
          <a:p>
            <a:r>
              <a:rPr lang="en-IN" dirty="0"/>
              <a:t>🚨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CloudWatch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ALARM:</a:t>
            </a:r>
            <a:br>
              <a:rPr lang="en-IN" dirty="0"/>
            </a:b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68D4D-D601-B491-9E44-9D8A0F04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00" y="1109927"/>
            <a:ext cx="10108399" cy="55506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5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69EF-24BA-98FD-845D-F4A8E439B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977B-20B6-1BEA-3173-CB3E13538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3003" y="267050"/>
            <a:ext cx="9373962" cy="135527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♻ Disaster Recovery Test</a:t>
            </a:r>
            <a:r>
              <a:rPr lang="en-IN" b="1" dirty="0"/>
              <a:t>:</a:t>
            </a:r>
            <a:br>
              <a:rPr lang="en-IN" dirty="0"/>
            </a:b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1A5602-0BB0-B24B-425B-34044ED0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893" y="1783550"/>
            <a:ext cx="9525950" cy="48801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165472-6BA2-53D5-94A4-A6F4F3AA5E89}"/>
              </a:ext>
            </a:extLst>
          </p:cNvPr>
          <p:cNvSpPr txBox="1"/>
          <p:nvPr/>
        </p:nvSpPr>
        <p:spPr>
          <a:xfrm>
            <a:off x="2587336" y="1252990"/>
            <a:ext cx="7471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✅ The EBS Snapshot → New Volume → Attach → Mount On Recovery EC2 Screen/Flow</a:t>
            </a: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236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1975-AD99-B0E9-A794-691186C1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6D56-B2BD-6E6F-E6BB-632417B36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2229" y="296546"/>
            <a:ext cx="9373962" cy="1355272"/>
          </a:xfrm>
        </p:spPr>
        <p:txBody>
          <a:bodyPr>
            <a:normAutofit fontScale="90000"/>
          </a:bodyPr>
          <a:lstStyle/>
          <a:p>
            <a:r>
              <a:rPr lang="en-IN" dirty="0"/>
              <a:t>🔁 6. Maintenance &amp; Optimization</a:t>
            </a:r>
            <a:r>
              <a:rPr lang="en-IN" b="1" dirty="0"/>
              <a:t>:</a:t>
            </a:r>
            <a:br>
              <a:rPr lang="en-IN" dirty="0"/>
            </a:b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49177D-EF50-3FAE-04D0-CFB47C170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453870"/>
              </p:ext>
            </p:extLst>
          </p:nvPr>
        </p:nvGraphicFramePr>
        <p:xfrm>
          <a:off x="1386347" y="1347018"/>
          <a:ext cx="10324208" cy="5142272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{8FD4443E-F989-4FC4-A0C8-D5A2AF1F390B}</a:tableStyleId>
              </a:tblPr>
              <a:tblGrid>
                <a:gridCol w="5162104">
                  <a:extLst>
                    <a:ext uri="{9D8B030D-6E8A-4147-A177-3AD203B41FA5}">
                      <a16:colId xmlns:a16="http://schemas.microsoft.com/office/drawing/2014/main" val="3695136211"/>
                    </a:ext>
                  </a:extLst>
                </a:gridCol>
                <a:gridCol w="5162104">
                  <a:extLst>
                    <a:ext uri="{9D8B030D-6E8A-4147-A177-3AD203B41FA5}">
                      <a16:colId xmlns:a16="http://schemas.microsoft.com/office/drawing/2014/main" val="1626294829"/>
                    </a:ext>
                  </a:extLst>
                </a:gridCol>
              </a:tblGrid>
              <a:tr h="1271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Security Control: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609139"/>
                  </a:ext>
                </a:extLst>
              </a:tr>
              <a:tr h="77410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Snapshot created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Snapshot Lock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KMS protected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629240"/>
                  </a:ext>
                </a:extLst>
              </a:tr>
              <a:tr h="77410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Encrypted backup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Immutable backups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042999"/>
                  </a:ext>
                </a:extLst>
              </a:tr>
              <a:tr h="77410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Automatic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Lambda + Event-Bridge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590369"/>
                  </a:ext>
                </a:extLst>
              </a:tr>
              <a:tr h="77410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Retention enforced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CloudWatch → Monitoring</a:t>
                      </a:r>
                      <a:br>
                        <a:rPr lang="en-US" dirty="0"/>
                      </a:br>
                      <a:r>
                        <a:rPr lang="en-US" dirty="0"/>
                        <a:t>SNS → Email Alerts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18417"/>
                  </a:ext>
                </a:extLst>
              </a:tr>
              <a:tr h="77410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Ransomware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Region or instance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04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31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4AF7-84D6-13B4-CD3B-C28D27CE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F59D-A96B-9A2A-54CE-93A9D67AC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2743" y="94895"/>
            <a:ext cx="7086600" cy="1281622"/>
          </a:xfrm>
        </p:spPr>
        <p:txBody>
          <a:bodyPr>
            <a:normAutofit fontScale="90000"/>
          </a:bodyPr>
          <a:lstStyle/>
          <a:p>
            <a:r>
              <a:rPr lang="en-IN" dirty="0"/>
              <a:t>👉 </a:t>
            </a:r>
            <a:r>
              <a:rPr lang="en-IN" b="1" dirty="0"/>
              <a:t>CONCLUSION: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8469F-3633-7A4D-7AFC-9DF00375A650}"/>
              </a:ext>
            </a:extLst>
          </p:cNvPr>
          <p:cNvSpPr txBox="1"/>
          <p:nvPr/>
        </p:nvSpPr>
        <p:spPr>
          <a:xfrm>
            <a:off x="2396278" y="4455880"/>
            <a:ext cx="7086600" cy="646331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 Stack  used:</a:t>
            </a:r>
          </a:p>
          <a:p>
            <a:r>
              <a:rPr lang="en-IN" dirty="0"/>
              <a:t>AWS EC2, EBS, Lambda, KMS, CloudWatch, SNS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3E50-9770-97AB-7012-7B6EE5B14B20}"/>
              </a:ext>
            </a:extLst>
          </p:cNvPr>
          <p:cNvSpPr txBox="1"/>
          <p:nvPr/>
        </p:nvSpPr>
        <p:spPr>
          <a:xfrm>
            <a:off x="2580465" y="2690336"/>
            <a:ext cx="6718226" cy="147732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Features: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Encrypted snapshots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Snapshot Lock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Monitoring &amp; alerts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Disaster recovery tested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19BAB-3B2B-E238-F31E-CDCFD4549D48}"/>
              </a:ext>
            </a:extLst>
          </p:cNvPr>
          <p:cNvSpPr txBox="1"/>
          <p:nvPr/>
        </p:nvSpPr>
        <p:spPr>
          <a:xfrm>
            <a:off x="1995950" y="1201791"/>
            <a:ext cx="8611548" cy="120032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“I followed the waterfall SDLC model where , i first gathered security and automation requirements, designed a cloud backup architecture, implemented lambda-based encryption automation, tested disaster recovery, deployed monitoring, and maintained cost optimization.”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869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{AB31E0EE-2FAB-4965-B660-6257ECBDCBC9}TF6d5feb1e-e145-43f1-b745-cb4b54c5ee975d365c52-ce22229b0e48</Template>
  <TotalTime>316</TotalTime>
  <Words>431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Arial</vt:lpstr>
      <vt:lpstr>Bahnschrift SemiBold SemiConden</vt:lpstr>
      <vt:lpstr>Tw Cen MT</vt:lpstr>
      <vt:lpstr>Circuit</vt:lpstr>
      <vt:lpstr>🔐Encrypted EC2 Backup Automation &amp; Disaster Recovery System (AWS) </vt:lpstr>
      <vt:lpstr>📘Project Description:</vt:lpstr>
      <vt:lpstr>📊 Waterfall SDLC MODEL: (with automation monitoring cloud operations similar to DevOps practices) </vt:lpstr>
      <vt:lpstr>🏗 Architecture Design: </vt:lpstr>
      <vt:lpstr>🔄 Architecture Flow : </vt:lpstr>
      <vt:lpstr>⚡Implementation: </vt:lpstr>
      <vt:lpstr>🧠 Lambda CODE: </vt:lpstr>
      <vt:lpstr>✅Security: </vt:lpstr>
      <vt:lpstr>🚨CloudWatch ALARM: </vt:lpstr>
      <vt:lpstr>♻ Disaster Recovery Test: </vt:lpstr>
      <vt:lpstr>🔁 6. Maintenance &amp; Optimization: </vt:lpstr>
      <vt:lpstr>👉 CONCLUSION: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Heena Kouser</dc:creator>
  <cp:lastModifiedBy>Heena Kouser</cp:lastModifiedBy>
  <cp:revision>3</cp:revision>
  <dcterms:created xsi:type="dcterms:W3CDTF">2026-02-05T14:35:57Z</dcterms:created>
  <dcterms:modified xsi:type="dcterms:W3CDTF">2026-02-06T16:17:00Z</dcterms:modified>
</cp:coreProperties>
</file>